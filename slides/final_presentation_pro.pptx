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82880" cy="685800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27432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46520" y="27432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49440" y="27432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27432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77724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77724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77724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2360" y="77724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28016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49440" y="128016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128016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178308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178308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49440" y="1783080"/>
            <a:ext cx="320040" cy="320040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1783080"/>
            <a:ext cx="320040" cy="3200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E6E87"/>
                </a:solidFill>
                <a:latin typeface="Calibri"/>
              </a:rPr>
              <a:t>CO543 / CO5430  |  University of Peradeniya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0972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Traffic 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92024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5C518"/>
                </a:solidFill>
                <a:latin typeface="Calibri"/>
              </a:rPr>
              <a:t>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474720" cy="54864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9260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C4E8"/>
                </a:solidFill>
                <a:latin typeface="Calibri Light"/>
              </a:rPr>
              <a:t>Using Deep Learning &amp;
Classical Computer 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097280"/>
            <a:ext cx="667512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123444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Course:  CO543 / CO5430 — Computer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57276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F36"/>
                </a:solidFill>
                <a:latin typeface="Calibri"/>
              </a:rPr>
              <a:t>Batch:    2022 Entry  |  Group 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743200"/>
            <a:ext cx="3108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0" y="2743200"/>
            <a:ext cx="64008" cy="114300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85232" y="2834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R.M.S.S. Kumara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5FBF"/>
                </a:solidFill>
                <a:latin typeface="Calibri"/>
              </a:rPr>
              <a:t>E/22/203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87"/>
                </a:solidFill>
                <a:latin typeface="Calibri Light"/>
              </a:rPr>
              <a:t>Team Lead &amp; Backend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743200"/>
            <a:ext cx="3108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03920" y="2743200"/>
            <a:ext cx="64008" cy="114300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68512" y="2834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K.I. Sewmini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5FBF"/>
                </a:solidFill>
                <a:latin typeface="Calibri"/>
              </a:rPr>
              <a:t>E/22/372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3493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87"/>
                </a:solidFill>
                <a:latin typeface="Calibri Light"/>
              </a:rPr>
              <a:t>Dataset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069080"/>
            <a:ext cx="3108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20640" y="4069080"/>
            <a:ext cx="64008" cy="114300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85232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S.I. Gunawardhana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5232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5FBF"/>
                </a:solidFill>
                <a:latin typeface="Calibri"/>
              </a:rPr>
              <a:t>E/22/127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5232" y="4818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87"/>
                </a:solidFill>
                <a:latin typeface="Calibri Light"/>
              </a:rPr>
              <a:t>Classical CV &amp; Ablation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4069080"/>
            <a:ext cx="3108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503920" y="4069080"/>
            <a:ext cx="64008" cy="114300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68512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A.W.H. Panchani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4526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5FBF"/>
                </a:solidFill>
                <a:latin typeface="Calibri"/>
              </a:rPr>
              <a:t>E/22/269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48188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E6E87"/>
                </a:solidFill>
                <a:latin typeface="Calibri Light"/>
              </a:rPr>
              <a:t>Evaluation &amp;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4864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55FBF"/>
                </a:solidFill>
                <a:latin typeface="Calibri"/>
              </a:rPr>
              <a:t>github.com/SajithK203/Traffic-Sign-Detection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ACC"/>
                </a:solidFill>
                <a:latin typeface="Calibri"/>
              </a:rPr>
              <a:t>University of Peradeniya  |  Department of Computer Engineering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Why traffic sign detection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82296" cy="914400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984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A295C"/>
                </a:solidFill>
                <a:latin typeface="Calibri Light"/>
              </a:rPr>
              <a:t>"Given a road image or frame — detect WHERE every sign is and WHAT TYPE it is."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3566160" cy="73152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423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5FBF"/>
                </a:solidFill>
                <a:latin typeface="Calibri"/>
              </a:rPr>
              <a:t>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834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Advanced Driver-Assistance Systems: real-time alerts for speed limits, stops, hazards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33172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2331720"/>
            <a:ext cx="3566160" cy="73152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2" y="2423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A0"/>
                </a:solidFill>
                <a:latin typeface="Calibri"/>
              </a:rPr>
              <a:t>Autonomous
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2834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Must obey road rules without human input — signs are legal commands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31720"/>
            <a:ext cx="3566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331720"/>
            <a:ext cx="3566160" cy="73152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24231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8721"/>
                </a:solidFill>
                <a:latin typeface="Calibri"/>
              </a:rPr>
              <a:t>Road
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834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Automated mapping and cataloguing of road signs for municipalities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11430000" cy="137160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13308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5C"/>
                </a:solidFill>
                <a:latin typeface="Calibri"/>
              </a:rPr>
              <a:t>Our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BF"/>
                </a:solidFill>
                <a:latin typeface="Calibri"/>
              </a:rPr>
              <a:t>Compare: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Classical CV baseline vs YOLOv8 deep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BF"/>
                </a:solidFill>
                <a:latin typeface="Calibri"/>
              </a:rPr>
              <a:t>Ablation: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45262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Quantify data augmentation impact on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73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BF"/>
                </a:solidFill>
                <a:latin typeface="Calibri"/>
              </a:rPr>
              <a:t>Demo: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873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Interactive Streamlit app — image + video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873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BF"/>
                </a:solidFill>
                <a:latin typeface="Calibri"/>
              </a:rPr>
              <a:t>Stretch: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79" y="4873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Fine-grained 43-class detection experiment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German Traffic Sign Detection Benchmark (GTSDB)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2697480" cy="82296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55FBF"/>
                </a:solidFill>
                <a:latin typeface="Calibri"/>
              </a:rPr>
              <a:t>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2024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E87"/>
                </a:solidFill>
                <a:latin typeface="Calibri Light"/>
              </a:rPr>
              <a:t>Full-scene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697480" cy="82296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1280160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A8A0"/>
                </a:solidFill>
                <a:latin typeface="Calibri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2024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E87"/>
                </a:solidFill>
                <a:latin typeface="Calibri Light"/>
              </a:rPr>
              <a:t>Fine-grained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1887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2697480" cy="82296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280160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295C"/>
                </a:solidFill>
                <a:latin typeface="Calibri"/>
              </a:rPr>
              <a:t>365 / 80 / 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192024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E87"/>
                </a:solidFill>
                <a:latin typeface="Calibri Light"/>
              </a:rPr>
              <a:t>Train / Val /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18872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188720"/>
            <a:ext cx="2697480" cy="82296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8" y="1280160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8721"/>
                </a:solidFill>
                <a:latin typeface="Calibri"/>
              </a:rPr>
              <a:t>1,200+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1920240"/>
            <a:ext cx="2487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6E87"/>
                </a:solidFill>
                <a:latin typeface="Calibri Light"/>
              </a:rPr>
              <a:t>Annotated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97480"/>
            <a:ext cx="3657600" cy="12344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697480"/>
            <a:ext cx="3657600" cy="6400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2638"/>
                </a:solidFill>
                <a:latin typeface="Calibri"/>
              </a:rPr>
              <a:t>Prohibitory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Red circle signs — speed limits, no-overtaking
Classes 0 –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2697480"/>
            <a:ext cx="3657600" cy="12344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2697480"/>
            <a:ext cx="3657600" cy="64008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19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8721"/>
                </a:solidFill>
                <a:latin typeface="Calibri"/>
              </a:rPr>
              <a:t>Danger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Red triangle signs — bends, construction, hazards
Classes 11 – 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2697480"/>
            <a:ext cx="3657600" cy="12344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79" y="2697480"/>
            <a:ext cx="3657600" cy="64008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39" y="2788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5FBF"/>
                </a:solidFill>
                <a:latin typeface="Calibri"/>
              </a:rPr>
              <a:t>Mandatory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31546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Blue circle signs — turn arrows, roundabout
Classes 33 – 41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60520"/>
            <a:ext cx="2606040" cy="47548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206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Convert .ppm → .jpg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3512" y="4206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0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4160520"/>
            <a:ext cx="2606040" cy="47548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60" y="4206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Bbox → YOLO format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206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0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160520"/>
            <a:ext cx="2606040" cy="47548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4206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70/15/15% Split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42062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0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4160520"/>
            <a:ext cx="2606040" cy="47548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89720" y="42062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Augmentation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4800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E6E87"/>
                </a:solidFill>
                <a:latin typeface="Calibri Light"/>
              </a:rPr>
              <a:t>Augmentation: Mosaic (4-image mixing)  •  HSV jitter (hue/sat/val)  •  Horizontal flip  •  Random scale &amp; translate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5 model variants spanning 3 detection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188720"/>
            <a:ext cx="221284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188720"/>
            <a:ext cx="2212848" cy="73152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280160"/>
            <a:ext cx="384048" cy="384048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28016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6E87"/>
                </a:solidFill>
                <a:latin typeface="Calibri"/>
              </a:rPr>
              <a:t>Classical CV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8308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HSV colour segmentation
Contour &amp; shape filter
IoU-NMS suppression
No training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6E87"/>
                </a:solidFill>
                <a:latin typeface="Calibri"/>
              </a:rPr>
              <a:t>— params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1188720"/>
            <a:ext cx="221284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39" y="1188720"/>
            <a:ext cx="2212848" cy="73152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97479" y="1280160"/>
            <a:ext cx="384048" cy="384048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79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7" y="128016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6E87"/>
                </a:solidFill>
                <a:latin typeface="Calibri"/>
              </a:rPr>
              <a:t>Zero-Shot
YOLOv8n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7" y="178308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COCO-pretrained weights
80 generic classes
No domain fine-tuning
Tests transfer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7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6E87"/>
                </a:solidFill>
                <a:latin typeface="Calibri"/>
              </a:rPr>
              <a:t>3.0 M params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1188720"/>
            <a:ext cx="221284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6048" y="1188720"/>
            <a:ext cx="2212848" cy="73152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47488" y="1280160"/>
            <a:ext cx="384048" cy="384048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47488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2976" y="128016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8721"/>
                </a:solidFill>
                <a:latin typeface="Calibri"/>
              </a:rPr>
              <a:t>YOLOv8n
No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178308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Fine-tuned on GTSDB
Augmentation DISABLED
Ablation control model
80 epochs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721"/>
                </a:solidFill>
                <a:latin typeface="Calibri"/>
              </a:rPr>
              <a:t>3.0 M params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6055" y="1188720"/>
            <a:ext cx="221284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06055" y="1188720"/>
            <a:ext cx="2212848" cy="73152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97495" y="1280160"/>
            <a:ext cx="384048" cy="384048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97495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3" y="128016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BF"/>
                </a:solidFill>
                <a:latin typeface="Calibri"/>
              </a:rPr>
              <a:t>YOLOv8n
With Augmentation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178308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Fine-tuned on GTSDB
Full augmentation ON
Mosaic + HSV + flip
80 epochs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5783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BF"/>
                </a:solidFill>
                <a:latin typeface="Calibri"/>
              </a:rPr>
              <a:t>3.0 M params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56063" y="1188720"/>
            <a:ext cx="2212848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56063" y="1188720"/>
            <a:ext cx="2212848" cy="7315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747503" y="1280160"/>
            <a:ext cx="384048" cy="38404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47503" y="1280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2991" y="1280160"/>
            <a:ext cx="15727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YOLOv8s
With Augmentation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1" y="178308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Larger backbone
Fine-tuned on GTSDB
Full augmentation ON
Best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1" y="33375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  <a:latin typeface="Calibri"/>
              </a:rPr>
              <a:t>11.1 M params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3950208"/>
            <a:ext cx="11676888" cy="5943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6032" y="4041648"/>
            <a:ext cx="1167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Epochs: 80   |   Image: 640×640   |   Batch: 16   |   Optimiser: AdamW   |   LR: 0.001 → 0.01   |   NVIDIA RTX 2050 (4 GB VRAM)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" y="4736592"/>
            <a:ext cx="11676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E6E87"/>
                </a:solidFill>
                <a:latin typeface="Calibri Light"/>
              </a:rPr>
              <a:t>Classical  &gt;  Zero-Shot  &gt;  Ablation  &gt;  YOLOv8n  &gt;  YOLOv8s  (Increasing Complexity)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Evaluated on held-out GTSDB test split  •  81 images  •  3 super-classes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1548872" cy="43891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234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12344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2344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mAP@0.5:0.95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12344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0192" y="12344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27632"/>
            <a:ext cx="115488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" y="168249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Classical CV  (HSV + Contour)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168249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168249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68249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4.0%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80192" y="168249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15.5%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066543"/>
            <a:ext cx="11548872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" y="2121407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Zero-Shot YOLOv8n  (COCO, no tuning)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12140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212140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12140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3.6%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0192" y="2121407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"/>
              </a:rPr>
              <a:t>20.0%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505456"/>
            <a:ext cx="115488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" y="25603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YOLOv8n  — no augmentation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256032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84.8%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56032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64.3%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56032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87.7%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0192" y="2560320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74.1%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944368"/>
            <a:ext cx="11548872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3192" y="29992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YOLOv8n  — with augmentation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0952" y="29992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95.5%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9992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73.3%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29992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91.9%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299923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91.0%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383280"/>
            <a:ext cx="11548872" cy="420624"/>
          </a:xfrm>
          <a:prstGeom prst="rect">
            <a:avLst/>
          </a:prstGeom>
          <a:solidFill>
            <a:srgbClr val="E8F0FE"/>
          </a:solidFill>
          <a:ln w="381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3383280"/>
            <a:ext cx="64008" cy="42062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34381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YOLOv8s  — with augmentation  ★ BEST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3438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97.1%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3438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76.0%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3438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96.5%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80192" y="343814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90.6%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895344"/>
            <a:ext cx="11548872" cy="128016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3895344"/>
            <a:ext cx="82296" cy="12801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395020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95C"/>
                </a:solidFill>
                <a:latin typeface="Calibri"/>
              </a:rPr>
              <a:t>Key Findings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3159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  •  YOLOv8s achieves 97.1% mAP — approximately 24x improvement over classical CV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6177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  •  Augmentation contributes +10.7 pp mAP and +16.9 pp recall on just 365 training images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91947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  •  Zero-shot baseline fails — domain-specific fine-tuning is critical for this task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Ablation Study &amp;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Isolating augmentation contribution  •  Understanding model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62356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95C"/>
                </a:solidFill>
                <a:latin typeface="Calibri"/>
              </a:rPr>
              <a:t>Augmentation Ablation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6E87"/>
                </a:solidFill>
                <a:latin typeface="Calibri"/>
              </a:rPr>
              <a:t>mAP@0.5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847088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1847088"/>
            <a:ext cx="3101644" cy="201168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84724" y="18470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721"/>
                </a:solidFill>
                <a:latin typeface="Calibri"/>
              </a:rPr>
              <a:t>84.8%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103120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37360" y="2103120"/>
            <a:ext cx="3493008" cy="201168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21031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BF"/>
                </a:solidFill>
                <a:latin typeface="Calibri"/>
              </a:rPr>
              <a:t>95.5%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359152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37360" y="2359152"/>
            <a:ext cx="3551529" cy="2011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4609" y="235915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  <a:latin typeface="Calibri"/>
              </a:rPr>
              <a:t>97.1%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7889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6E87"/>
                </a:solidFill>
                <a:latin typeface="Calibri"/>
              </a:rPr>
              <a:t>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807208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360" y="2807208"/>
            <a:ext cx="3207715" cy="201168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0795" y="28072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721"/>
                </a:solidFill>
                <a:latin typeface="Calibri"/>
              </a:rPr>
              <a:t>87.7%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063240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37360" y="3063240"/>
            <a:ext cx="3361334" cy="201168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4414" y="3063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BF"/>
                </a:solidFill>
                <a:latin typeface="Calibri"/>
              </a:rPr>
              <a:t>91.9%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319272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37360" y="3319272"/>
            <a:ext cx="3529584" cy="2011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12664" y="33192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  <a:latin typeface="Calibri"/>
              </a:rPr>
              <a:t>96.5%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49039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6E87"/>
                </a:solidFill>
                <a:latin typeface="Calibri"/>
              </a:rPr>
              <a:t>Recall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3767327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737360" y="3767327"/>
            <a:ext cx="2710281" cy="201168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93361" y="3767327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721"/>
                </a:solidFill>
                <a:latin typeface="Calibri"/>
              </a:rPr>
              <a:t>74.1%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4023359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737360" y="4023359"/>
            <a:ext cx="3328416" cy="201168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11496" y="402335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BF"/>
                </a:solidFill>
                <a:latin typeface="Calibri"/>
              </a:rPr>
              <a:t>91.0%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37360" y="4279391"/>
            <a:ext cx="3657600" cy="201168"/>
          </a:xfrm>
          <a:prstGeom prst="rect">
            <a:avLst/>
          </a:prstGeom>
          <a:solidFill>
            <a:srgbClr val="D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737360" y="4279391"/>
            <a:ext cx="3313785" cy="20116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96865" y="4279391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295C"/>
                </a:solidFill>
                <a:latin typeface="Calibri"/>
              </a:rPr>
              <a:t>90.6%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54880"/>
            <a:ext cx="164592" cy="164592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47365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No Aug (n)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754880"/>
            <a:ext cx="164592" cy="164592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96312" y="47365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With Aug (n)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754880"/>
            <a:ext cx="164592" cy="16459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79392" y="47365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 Light"/>
              </a:rPr>
              <a:t>With Aug (s)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074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A0"/>
                </a:solidFill>
                <a:latin typeface="Calibri"/>
              </a:rPr>
              <a:t>Augmentation delivers +10.7 pp mAP and +16.9 pp Recall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1188720"/>
            <a:ext cx="56235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95C"/>
                </a:solidFill>
                <a:latin typeface="Calibri"/>
              </a:rPr>
              <a:t>Identified Failure Cases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1783080"/>
            <a:ext cx="256032" cy="256032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2" y="176479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Tiny Distant Signs  (&lt; 20 × 20 px)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6832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87"/>
                </a:solidFill>
                <a:latin typeface="Calibri Light"/>
              </a:rPr>
              <a:t>Below feature map resolution — frequently missed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679191"/>
            <a:ext cx="256032" cy="256032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56832" y="2660903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Heavy Occlusion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295351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87"/>
                </a:solidFill>
                <a:latin typeface="Calibri Light"/>
              </a:rPr>
              <a:t>Vehicles / foliage block the sign — insufficient training coverage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575304"/>
            <a:ext cx="256032" cy="256032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56832" y="355701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Rare Class — Danger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6832" y="3849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87"/>
                </a:solidFill>
                <a:latin typeface="Calibri Light"/>
              </a:rPr>
              <a:t>Class imbalance causes higher miss rate on triangular signs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471416"/>
            <a:ext cx="256032" cy="256032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56832" y="44531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36"/>
                </a:solidFill>
                <a:latin typeface="Calibri"/>
              </a:rPr>
              <a:t>Night / Low-Light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56832" y="4745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E6E87"/>
                </a:solidFill>
                <a:latin typeface="Calibri Light"/>
              </a:rPr>
              <a:t>Not present in GTSDB training set — untested domain gap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Interactive Demo — Streamlit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Real-time traffic sign detection accessible in any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3657600" cy="82296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5FBF"/>
                </a:solidFill>
                <a:latin typeface="Calibri"/>
              </a:rPr>
              <a:t>Image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Drag-and-drop any road photograph for instant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344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234440"/>
            <a:ext cx="3657600" cy="82296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9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A0"/>
                </a:solidFill>
                <a:latin typeface="Calibri"/>
              </a:rPr>
              <a:t>Sample Gallery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7830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7 pre-loaded GTSDB test images — click to load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65176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2651760"/>
            <a:ext cx="3657600" cy="82296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9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295C"/>
                </a:solidFill>
                <a:latin typeface="Calibri"/>
              </a:rPr>
              <a:t>Video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Upload MP4/AVI — frame-by-frame YOLO inference + download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2651760"/>
            <a:ext cx="3657600" cy="82296"/>
          </a:xfrm>
          <a:prstGeom prst="rect">
            <a:avLst/>
          </a:prstGeom>
          <a:solidFill>
            <a:srgbClr val="F5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8721"/>
                </a:solidFill>
                <a:latin typeface="Calibri"/>
              </a:rPr>
              <a:t>Side-by-Side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Compare Classical CV vs YOLOv8s on the same input 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069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59" y="4087368"/>
            <a:ext cx="3657600" cy="822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19" y="43342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43-Class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46177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Fine-grained model: speed_limit_50, give_way, no_entry...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06908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4069080"/>
            <a:ext cx="3657600" cy="82296"/>
          </a:xfrm>
          <a:prstGeom prst="rect">
            <a:avLst/>
          </a:prstGeom>
          <a:solidFill>
            <a:srgbClr val="5E6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39" y="4206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6E87"/>
                </a:solidFill>
                <a:latin typeface="Calibri"/>
              </a:rPr>
              <a:t>Live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6177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6E87"/>
                </a:solidFill>
                <a:latin typeface="Calibri Light"/>
              </a:rPr>
              <a:t>Adjust Confidence &amp; NMS IoU thresholds with sliders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586984"/>
            <a:ext cx="11548872" cy="8229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Stretch Goal — 43-Class Fine-Grained YOLOv8n: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3616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 Light"/>
              </a:rPr>
              <a:t>Val mAP@0.5 = 24.7%   |   100 Epochs   |   Trained in 12.5 minutes on RTX 2050   |   Identifies exact sign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7" y="5925312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55FBF"/>
                </a:solidFill>
                <a:latin typeface="Calibri Light"/>
              </a:rPr>
              <a:t>github.com/SajithK203/Traffic-Sign-Detection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109728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 Light"/>
              </a:rPr>
              <a:t>What we achieved and where we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274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0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AC0"/>
                </a:solidFill>
                <a:latin typeface="Calibri"/>
              </a:rPr>
              <a:t>Traffic Sign Detection  |  Group 17  |  CO543/CO5430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34440"/>
            <a:ext cx="5532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82296" cy="109728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295C"/>
                </a:solidFill>
                <a:latin typeface="Calibri"/>
              </a:rPr>
              <a:t>97.1% 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Fine-tuned YOLOv8s — approximately 24x better than the classical CV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532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82296" cy="109728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8A0"/>
                </a:solidFill>
                <a:latin typeface="Calibri"/>
              </a:rPr>
              <a:t>+10.7 pp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647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Data augmentation is the single most impactful design decision on small datasets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5532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82296" cy="1097280"/>
          </a:xfrm>
          <a:prstGeom prst="rect">
            <a:avLst/>
          </a:prstGeom>
          <a:solidFill>
            <a:srgbClr val="15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5603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5FBF"/>
                </a:solidFill>
                <a:latin typeface="Calibri"/>
              </a:rPr>
              <a:t>Transfer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365 training images suffice when starting from COCO-pretrained weights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468880"/>
            <a:ext cx="5532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468880"/>
            <a:ext cx="82296" cy="109728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8855"/>
                </a:solidFill>
                <a:latin typeface="Calibri"/>
              </a:rPr>
              <a:t>Live Demo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92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 Light"/>
              </a:rPr>
              <a:t>Streamlit app validates real-world performance on images and video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11548872" cy="1508760"/>
          </a:xfrm>
          <a:prstGeom prst="rect">
            <a:avLst/>
          </a:prstGeom>
          <a:solidFill>
            <a:srgbClr val="EEF2F8"/>
          </a:solidFill>
          <a:ln w="6350"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82296" cy="1508760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82219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5C"/>
                </a:solidFill>
                <a:latin typeface="Calibri"/>
              </a:rPr>
              <a:t>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 Light"/>
              </a:rPr>
              <a:t>•  Larger datasets (TT100K, LISA) for cross-domain generalisation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06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 Light"/>
              </a:rPr>
              <a:t>•  YOLO11 / RT-DETR architectures for improved accuracy-speed trade-off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06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 Light"/>
              </a:rPr>
              <a:t>•  TensorRT + Jetson Nano for real-time embedded automotive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902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 Light"/>
              </a:rPr>
              <a:t>•  Night/weather robustness via synthetic augmentation strategies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5902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 Light"/>
              </a:rPr>
              <a:t>•  Full 43-class model combining GTSDB detection + GTSRB (51K crops) classification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63640"/>
            <a:ext cx="12188952" cy="347472"/>
          </a:xfrm>
          <a:prstGeom prst="rect">
            <a:avLst/>
          </a:prstGeom>
          <a:solidFill>
            <a:srgbClr val="00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0" y="62636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Thank You   |   Questions Welcome   |   github.com/SajithK203/Traffic-Sign-Detection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1080</Words>
  <Application>Microsoft Office PowerPoint</Application>
  <PresentationFormat>Custom</PresentationFormat>
  <Paragraphs>198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sajithk391@gmail.com</cp:lastModifiedBy>
  <cp:revision>2</cp:revision>
  <dcterms:created xsi:type="dcterms:W3CDTF">2013-01-27T09:14:16Z</dcterms:created>
  <dcterms:modified xsi:type="dcterms:W3CDTF">2026-09-11T05:12:06Z</dcterms:modified>
  <cp:category/>
</cp:coreProperties>
</file>